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59" r:id="rId20"/>
  </p:sldIdLst>
  <p:sldSz cx="12192000" cy="6858000"/>
  <p:notesSz cx="6858000" cy="9144000"/>
  <p:embeddedFontLst>
    <p:embeddedFont>
      <p:font typeface="Lato Black" panose="020F0502020204030203" pitchFamily="34" charset="0"/>
      <p:bold r:id="rId22"/>
      <p:boldItalic r:id="rId23"/>
    </p:embeddedFon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nFQsu0qTBRZ+C47HNp0tuHCNko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hiraj Rathod" initials="DR" lastIdx="4" clrIdx="0">
    <p:extLst>
      <p:ext uri="{19B8F6BF-5375-455C-9EA6-DF929625EA0E}">
        <p15:presenceInfo xmlns:p15="http://schemas.microsoft.com/office/powerpoint/2012/main" userId="1f14cc7633dd425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277" autoAdjust="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dirty="0"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dhiraj-rathod-99a42326a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hirajrathod1409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C3589FE-4CB7-B6F0-0099-813BCB031F76}"/>
              </a:ext>
            </a:extLst>
          </p:cNvPr>
          <p:cNvSpPr txBox="1"/>
          <p:nvPr/>
        </p:nvSpPr>
        <p:spPr>
          <a:xfrm>
            <a:off x="3435927" y="3941064"/>
            <a:ext cx="59915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MOVIE PRODUCTION ANALYSIS</a:t>
            </a: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8F58988-8BAF-7B4B-0DF6-B3DB09DA4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9" name="Google Shape;98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65608" y="2695074"/>
            <a:ext cx="4745255" cy="213680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3E148D-BC74-4037-82B3-E7C78E34BD66}"/>
              </a:ext>
            </a:extLst>
          </p:cNvPr>
          <p:cNvSpPr txBox="1"/>
          <p:nvPr/>
        </p:nvSpPr>
        <p:spPr>
          <a:xfrm>
            <a:off x="4331369" y="4094952"/>
            <a:ext cx="38212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Movie Production Analysis</a:t>
            </a:r>
            <a:endParaRPr lang="en-IN" sz="24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2" y="1299172"/>
            <a:ext cx="7007400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My self </a:t>
            </a:r>
            <a:r>
              <a:rPr lang="en-IN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 Dhiraj Rathod and I am BTech computer Engineering Graduate. </a:t>
            </a: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Link-din : </a:t>
            </a:r>
            <a:r>
              <a:rPr lang="en-IN" sz="16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3"/>
              </a:rPr>
              <a:t>https://www.linkedin.com/in/dhiraj-rathod-99a42326a/</a:t>
            </a:r>
            <a:endParaRPr lang="en-IN" sz="1600" b="1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IN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Git-hub : </a:t>
            </a:r>
            <a:r>
              <a:rPr lang="en-IN" sz="1600" b="1" i="0" u="none" strike="noStrike" cap="none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  <a:hlinkClick r:id="rId4"/>
              </a:rPr>
              <a:t>https://github.com/dhirajrathod1409</a:t>
            </a:r>
            <a:endParaRPr lang="en-IN" sz="16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endParaRPr lang="en-IN" sz="1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37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2800" b="1" i="0" u="none" strike="noStrike" cap="none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sz="2800" b="1" i="0" u="none" strike="noStrike" cap="non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3BC29-2B93-D610-74D1-6394A4BB8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endParaRPr lang="en-I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C5E8A2-C91A-190C-DE28-A438516FD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IMDb Ratings of Movies to Guide Investment Decisions for a Film Production Company.</a:t>
            </a:r>
          </a:p>
          <a:p>
            <a:pPr marL="1143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film production company wants to maximize its return on investment (ROI) by producing movies that are likely to receive high IMDb ratings (a strong indicator of audience reception and long-term success).</a:t>
            </a:r>
          </a:p>
          <a:p>
            <a:endParaRPr 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(How to Solve it?)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Scraping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</a:t>
            </a:r>
          </a:p>
          <a:p>
            <a:pPr marL="114300" indent="0">
              <a:buNone/>
            </a:pP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122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CB425-1BEA-FF04-A97B-67B99826F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3211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What does Dataset Contains? </a:t>
            </a:r>
            <a:endParaRPr lang="en-IN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32C5F-D4A9-C962-6856-28573BA41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775062"/>
            <a:ext cx="11212629" cy="6082937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name -  Name of movie  rated on platform.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Release year  -  Release year of movie rated 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duration -  How long rated movie is ?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rating  - Correlate with box office success and streaming popularity and score lies between [1 – 10]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votes - </a:t>
            </a:r>
            <a:r>
              <a:rPr lang="en-US" sz="1600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16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epresent user ratings for movies and TV shows, on a scale of 1 to 10, with higher scores indicating a higher level of appreciation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 score - </a:t>
            </a:r>
            <a:r>
              <a:rPr lang="en-US" sz="16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 used on Metacritic, is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score (out of 100) representing the critical consensus for a game, movie, TV show, or album</a:t>
            </a:r>
            <a:r>
              <a:rPr lang="en-US" sz="16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type – what type of movie is it ?R , G or PG etc.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6A0E6D-04E6-CE41-D4F1-A9F3C35F8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59" y="3816530"/>
            <a:ext cx="7876560" cy="277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00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372B7-3B34-2395-48D8-54740EE50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Manipulation and Transformation</a:t>
            </a:r>
            <a:endParaRPr lang="en-I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0FA4C8-971E-E6C8-B549-D26CB2CEB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91920"/>
            <a:ext cx="10515600" cy="4785043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scraping the data some values are missing ,handling those missing value 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different feature like rating , IMDB votes , Meta score 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duration , release year from string to numerical value.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new feature Decade from duration column , showing movie belongs to which decade . </a:t>
            </a:r>
          </a:p>
          <a:p>
            <a:pPr marL="11430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all cleaning  structure dataset :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endParaRPr lang="en-IN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414940-C60C-91D3-1B72-A68852D5E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122399"/>
            <a:ext cx="8456519" cy="316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056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1DF35-136F-491D-8353-C566F8F3D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047"/>
            <a:ext cx="10515600" cy="1542642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  <a:b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5ABC5-1DAA-3568-BE3E-503A6C62F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120"/>
            <a:ext cx="10515600" cy="5434149"/>
          </a:xfrm>
        </p:spPr>
        <p:txBody>
          <a:bodyPr/>
          <a:lstStyle/>
          <a:p>
            <a:pPr marL="11430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Time duration of Movies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of these dataset having time duration is between 100 and 140 Min.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outlier or extremities are also there some movies have long duration greater than 180.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D8C00D-575D-68BC-6346-FB17FCCEE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59" y="2666683"/>
            <a:ext cx="7831037" cy="3951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223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155B-D1D2-6567-8CF4-5061866C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Analysis of IMDB Rating</a:t>
            </a:r>
            <a:endParaRPr lang="en-IN" sz="2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B03BF-A578-1F2C-F31C-A8BD4E8F5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58834"/>
            <a:ext cx="10515600" cy="509451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Movies having rating are in between 7.5 and 8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extrem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 are also there below 6</a:t>
            </a:r>
          </a:p>
          <a:p>
            <a:pPr marL="114300" indent="0">
              <a:buNone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A6E28D-19DC-8043-6E58-E667B089D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99657"/>
            <a:ext cx="7748451" cy="386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63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D439E-4BA1-7911-2999-6A58A6784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503"/>
            <a:ext cx="10515600" cy="158618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IMDB votes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2CFB4-C0B1-1258-2E56-CDC1ADF95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62743"/>
            <a:ext cx="10515600" cy="4914220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have earn votes in between 100000 and 500000 votes.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 are also present in this column showing some movies also have votes more 1.5 million votes.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E0EBC-6C7F-70A6-8DEF-86C7A5953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578" y="2612570"/>
            <a:ext cx="6861228" cy="398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408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F2E3-75DC-102D-44BE-7C93FB0A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297"/>
            <a:ext cx="10515600" cy="1490391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Meta score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A751D-6886-E376-BF94-5BAAB73B9D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120"/>
            <a:ext cx="10515600" cy="4835843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have meta score between 65 and 85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lower bound outlier are also there in this column.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01EE5A-7220-F4E3-A036-DF887C7388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3" y="2538549"/>
            <a:ext cx="7910400" cy="4119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562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B2543-AB96-F553-214D-A22CF900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5464"/>
            <a:ext cx="10515600" cy="1314994"/>
          </a:xfrm>
        </p:spPr>
        <p:txBody>
          <a:bodyPr>
            <a:normAutofit/>
          </a:bodyPr>
          <a:lstStyle/>
          <a:p>
            <a:r>
              <a:rPr lang="en-US" sz="2000" b="1" dirty="0"/>
              <a:t>Analysis of Decade</a:t>
            </a:r>
            <a:endParaRPr lang="en-IN" sz="20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9D559D-7F41-ED00-5072-6F7C12D91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0491"/>
            <a:ext cx="10515600" cy="5482044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of this dataset is of 1980-2000 decade</a:t>
            </a:r>
          </a:p>
          <a:p>
            <a:pPr algn="l">
              <a:buFont typeface="Wingdings" panose="05000000000000000000" pitchFamily="2" charset="2"/>
              <a:buChar char="v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 lower bound outlier movies are also present below 1950's Decade.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E0EEF4-A74C-3C41-A72B-0C27E68D6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187" y="2403566"/>
            <a:ext cx="7251921" cy="428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537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23BF2-DEA9-5192-DE7F-EBA1C6CE0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Movie type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333BC-C1B5-F79A-E3D7-8F8676AB0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8206"/>
            <a:ext cx="10515600" cy="4748757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of the movies are R rated movies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183A36-3CA8-F5D2-6BE1-B96CF7036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85" y="2511473"/>
            <a:ext cx="4676503" cy="3665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993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E986E-EA68-C996-51F3-B7F43B95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Director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0432E-E2DA-C2C5-C4FE-7C4ACF53A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15291"/>
            <a:ext cx="10515600" cy="4661672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 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Director appear in high rated movies.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224B99-20F3-0AEE-76D7-9E39EBF92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046" y="2438399"/>
            <a:ext cx="5477691" cy="364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201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CFC22-5768-936B-31A3-8CD960715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881"/>
            <a:ext cx="10515600" cy="1323702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 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type vs Time duration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F873D-6FCB-19E5-1F99-AA9FEB7CA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10515600" cy="5455919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type movies having low time duration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3544EF-A2F9-4009-2BA2-70569C537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" y="2213219"/>
            <a:ext cx="7439995" cy="4213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844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EBEAC-E4D7-C982-F000-4A6E666B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type vs IMDB rating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991C4-7652-EB44-E009-881625632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1451"/>
            <a:ext cx="10515600" cy="5221424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type movie having max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rating than any other type of movies.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1951DB-3205-F5A2-B4F3-2610B39FE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87" y="2344384"/>
            <a:ext cx="8029914" cy="404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153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BB143-D895-E2E0-D6AB-7A7E313B6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type vs IMDB votes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73CF1-3414-EBA2-6C98-EA6FC806A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71749"/>
            <a:ext cx="10515600" cy="4705214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type movie having maximum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votes</a:t>
            </a:r>
          </a:p>
          <a:p>
            <a:pPr marL="114300" indent="0">
              <a:buNone/>
            </a:pP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B11F66-0512-F19A-836D-36F969D5C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47" y="2417775"/>
            <a:ext cx="8743404" cy="3669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628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6312A-8A2A-1717-53A6-1C79F0500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Movie type vs Meta score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DD93EE-EB45-3BFB-1D4F-EAE0A5EA2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24000"/>
            <a:ext cx="10515600" cy="4968875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 type movie having high meta score than other movie type.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9109F1-41D4-B657-A5CC-3C149115C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386149"/>
            <a:ext cx="7643949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653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E469E-5FCC-7F2E-6E9F-D708807E2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I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D3049-A6A8-7CA9-37C5-318E0DE24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pPr algn="l">
              <a:buNone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IMDB Rating has positive correlation with meta score and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IMDB </a:t>
            </a:r>
            <a:r>
              <a:rPr lang="en-US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votes column of 0.6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D11545-2B66-EB66-F4EC-5AE11DAE9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55" y="2328132"/>
            <a:ext cx="6087292" cy="416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529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37C0-2FDC-517C-963E-432DEBAC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Recommendations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F7B43-A21E-B24B-AC5D-50DF00432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R or PG-13 films (highest rating potential).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Hire top directors (Nolan, Tarantino, Spielberg) or rising talents with strong track records.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runtime between 120–150 minutes  for optimal engagement.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 from analysis we can produce G type films as it receive high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Imdb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votes and its duration is also small 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 over-reliance on sequels/reboots (original stories tend to rate higher).</a:t>
            </a:r>
          </a:p>
        </p:txBody>
      </p:sp>
    </p:spTree>
    <p:extLst>
      <p:ext uri="{BB962C8B-B14F-4D97-AF65-F5344CB8AC3E}">
        <p14:creationId xmlns:p14="http://schemas.microsoft.com/office/powerpoint/2010/main" val="1934860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659</Words>
  <Application>Microsoft Office PowerPoint</Application>
  <PresentationFormat>Widescreen</PresentationFormat>
  <Paragraphs>75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Libre Baskerville</vt:lpstr>
      <vt:lpstr>Times New Roman</vt:lpstr>
      <vt:lpstr>Calibri</vt:lpstr>
      <vt:lpstr>Arial</vt:lpstr>
      <vt:lpstr>Wingdings</vt:lpstr>
      <vt:lpstr>Lato Black</vt:lpstr>
      <vt:lpstr>Office Theme</vt:lpstr>
      <vt:lpstr>PowerPoint Presentation</vt:lpstr>
      <vt:lpstr>PowerPoint Presentation</vt:lpstr>
      <vt:lpstr>Business Problem</vt:lpstr>
      <vt:lpstr>What does Dataset Contains? </vt:lpstr>
      <vt:lpstr>Data cleaning, Manipulation and Transformation</vt:lpstr>
      <vt:lpstr>Exploratory Data Analysis Univariate analysis</vt:lpstr>
      <vt:lpstr>Analysis of IMDB Rating</vt:lpstr>
      <vt:lpstr>Analysis of IMDB votes</vt:lpstr>
      <vt:lpstr>Analysis of Meta score</vt:lpstr>
      <vt:lpstr>Analysis of Decade</vt:lpstr>
      <vt:lpstr>Analysis of Movie type</vt:lpstr>
      <vt:lpstr>Analysis of Director</vt:lpstr>
      <vt:lpstr>Bivariate analysis  movie type vs Time duration</vt:lpstr>
      <vt:lpstr>Movie type vs IMDB rating</vt:lpstr>
      <vt:lpstr>Movie type vs IMDB votes</vt:lpstr>
      <vt:lpstr>Movie type vs Meta score</vt:lpstr>
      <vt:lpstr>Multivariate Analysis</vt:lpstr>
      <vt:lpstr>Final Business Recommendations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Dhiraj Rathod</cp:lastModifiedBy>
  <cp:revision>7</cp:revision>
  <dcterms:created xsi:type="dcterms:W3CDTF">2021-02-16T05:19:01Z</dcterms:created>
  <dcterms:modified xsi:type="dcterms:W3CDTF">2025-04-30T03:35:45Z</dcterms:modified>
</cp:coreProperties>
</file>